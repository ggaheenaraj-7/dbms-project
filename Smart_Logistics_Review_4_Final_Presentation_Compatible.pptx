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2E16EF7-9302-4DC9-BAE0-D9742A428EC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90772E-A8C7-4858-94DF-D8E4EA9F5D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8AF437A-8907-4499-B7D9-8445201C76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49D7F2-6A62-4E91-BC4D-2BF793AD123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1DEED8-0F9A-4B24-A3C1-95E4E7170A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F21B518-1458-44F4-9241-6046673C4C7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B66AD9C-E6B1-4688-A77A-B15BEC2E8B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41913A-F50B-4117-8046-9A48A4A5123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978376-0E95-4BEB-8E10-C86F286C03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A71343-7490-4791-9420-912E6C531A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246E9F-37F3-44AD-AA93-F1462E5AD2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1" descr="cover.png"/>
          <p:cNvPicPr/>
          <p:nvPr/>
        </p:nvPicPr>
        <p:blipFill>
          <a:blip r:embed="rId2"/>
          <a:stretch/>
        </p:blipFill>
        <p:spPr>
          <a:xfrm>
            <a:off x="6400800" y="0"/>
            <a:ext cx="57906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Box 2"/>
          <p:cNvSpPr/>
          <p:nvPr/>
        </p:nvSpPr>
        <p:spPr>
          <a:xfrm>
            <a:off x="640080" y="731520"/>
            <a:ext cx="5486040" cy="17990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100" b="1" dirty="0">
                <a:solidFill>
                  <a:srgbClr val="FAFCFF"/>
                </a:solidFill>
                <a:latin typeface="Aptos"/>
              </a:rPr>
              <a:t>AI- ENABLED LOGISTICS OPTIMIZATION AND COURIER TRACKING SYSTEM</a:t>
            </a:r>
            <a:br>
              <a:rPr sz="1800" dirty="0"/>
            </a:b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COURIER TRACKING SYSTEM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658440" y="2148840"/>
            <a:ext cx="5394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8AAA0"/>
                </a:solidFill>
                <a:effectLst/>
                <a:uFillTx/>
                <a:latin typeface="Aptos"/>
              </a:rPr>
              <a:t>REVIEW 4 — FINAL IMPLEMENTATION &amp; EVALUATION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658440" y="2724840"/>
            <a:ext cx="51660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A final-review presentation aligned to the five 10-mark evaluation components.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Rounded Rectangle 5"/>
          <p:cNvSpPr/>
          <p:nvPr/>
        </p:nvSpPr>
        <p:spPr>
          <a:xfrm>
            <a:off x="658440" y="3703320"/>
            <a:ext cx="2514240" cy="65808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Rectangle 6"/>
          <p:cNvSpPr/>
          <p:nvPr/>
        </p:nvSpPr>
        <p:spPr>
          <a:xfrm>
            <a:off x="658440" y="3703320"/>
            <a:ext cx="72720" cy="658080"/>
          </a:xfrm>
          <a:prstGeom prst="rect">
            <a:avLst/>
          </a:prstGeom>
          <a:solidFill>
            <a:srgbClr val="28AAA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7"/>
          <p:cNvSpPr/>
          <p:nvPr/>
        </p:nvSpPr>
        <p:spPr>
          <a:xfrm>
            <a:off x="859680" y="386784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Accuracy of Results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8"/>
          <p:cNvSpPr/>
          <p:nvPr/>
        </p:nvSpPr>
        <p:spPr>
          <a:xfrm>
            <a:off x="3026520" y="4270320"/>
            <a:ext cx="2166840" cy="2042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 dirty="0">
                <a:solidFill>
                  <a:srgbClr val="E8EEF5"/>
                </a:solidFill>
                <a:effectLst/>
                <a:uFillTx/>
                <a:latin typeface="Aptos"/>
              </a:rPr>
              <a:t>F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Rounded Rectangle 9"/>
          <p:cNvSpPr/>
          <p:nvPr/>
        </p:nvSpPr>
        <p:spPr>
          <a:xfrm>
            <a:off x="3401640" y="3703320"/>
            <a:ext cx="2514240" cy="65808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 10"/>
          <p:cNvSpPr/>
          <p:nvPr/>
        </p:nvSpPr>
        <p:spPr>
          <a:xfrm>
            <a:off x="3401640" y="3703320"/>
            <a:ext cx="72720" cy="658080"/>
          </a:xfrm>
          <a:prstGeom prst="rect">
            <a:avLst/>
          </a:prstGeom>
          <a:solidFill>
            <a:srgbClr val="F2913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11"/>
          <p:cNvSpPr/>
          <p:nvPr/>
        </p:nvSpPr>
        <p:spPr>
          <a:xfrm>
            <a:off x="3602880" y="386784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Technical Competence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13"/>
          <p:cNvSpPr/>
          <p:nvPr/>
        </p:nvSpPr>
        <p:spPr>
          <a:xfrm>
            <a:off x="658440" y="4572000"/>
            <a:ext cx="2514240" cy="65808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Rectangle 14"/>
          <p:cNvSpPr/>
          <p:nvPr/>
        </p:nvSpPr>
        <p:spPr>
          <a:xfrm>
            <a:off x="658440" y="4572000"/>
            <a:ext cx="72720" cy="658080"/>
          </a:xfrm>
          <a:prstGeom prst="rect">
            <a:avLst/>
          </a:prstGeom>
          <a:solidFill>
            <a:srgbClr val="4CB57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15"/>
          <p:cNvSpPr/>
          <p:nvPr/>
        </p:nvSpPr>
        <p:spPr>
          <a:xfrm>
            <a:off x="859680" y="473652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Innovative &amp; Sustainable Features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17"/>
          <p:cNvSpPr/>
          <p:nvPr/>
        </p:nvSpPr>
        <p:spPr>
          <a:xfrm>
            <a:off x="3401640" y="4572000"/>
            <a:ext cx="2514240" cy="65808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Rectangle 18"/>
          <p:cNvSpPr/>
          <p:nvPr/>
        </p:nvSpPr>
        <p:spPr>
          <a:xfrm>
            <a:off x="3401640" y="4572000"/>
            <a:ext cx="72720" cy="658080"/>
          </a:xfrm>
          <a:prstGeom prst="rect">
            <a:avLst/>
          </a:prstGeom>
          <a:solidFill>
            <a:srgbClr val="EEBF4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19"/>
          <p:cNvSpPr/>
          <p:nvPr/>
        </p:nvSpPr>
        <p:spPr>
          <a:xfrm>
            <a:off x="3602880" y="473652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Utility to Society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21"/>
          <p:cNvSpPr/>
          <p:nvPr/>
        </p:nvSpPr>
        <p:spPr>
          <a:xfrm>
            <a:off x="658440" y="5440680"/>
            <a:ext cx="2514240" cy="65808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22"/>
          <p:cNvSpPr/>
          <p:nvPr/>
        </p:nvSpPr>
        <p:spPr>
          <a:xfrm>
            <a:off x="658440" y="5440680"/>
            <a:ext cx="72720" cy="658080"/>
          </a:xfrm>
          <a:prstGeom prst="rect">
            <a:avLst/>
          </a:prstGeom>
          <a:solidFill>
            <a:srgbClr val="DC5B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23"/>
          <p:cNvSpPr/>
          <p:nvPr/>
        </p:nvSpPr>
        <p:spPr>
          <a:xfrm>
            <a:off x="859680" y="560520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Presentation Skills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25"/>
          <p:cNvSpPr/>
          <p:nvPr/>
        </p:nvSpPr>
        <p:spPr>
          <a:xfrm>
            <a:off x="658440" y="617220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Final review • implementation • validation • demonstration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594360" y="38412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1. Project Overview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621720" y="932760"/>
            <a:ext cx="107895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Problem → proposed system → end-to-end workflow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3"/>
          <p:cNvSpPr/>
          <p:nvPr/>
        </p:nvSpPr>
        <p:spPr>
          <a:xfrm>
            <a:off x="640080" y="1417320"/>
            <a:ext cx="3245760" cy="141696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Rectangle 4"/>
          <p:cNvSpPr/>
          <p:nvPr/>
        </p:nvSpPr>
        <p:spPr>
          <a:xfrm>
            <a:off x="640080" y="1417320"/>
            <a:ext cx="72720" cy="1416960"/>
          </a:xfrm>
          <a:prstGeom prst="rect">
            <a:avLst/>
          </a:prstGeom>
          <a:solidFill>
            <a:srgbClr val="DC5B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841320" y="158184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Problem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6"/>
          <p:cNvSpPr/>
          <p:nvPr/>
        </p:nvSpPr>
        <p:spPr>
          <a:xfrm>
            <a:off x="841320" y="1984320"/>
            <a:ext cx="289836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Manual logistics operations can create delays, weak visibility and coordination gaps.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7"/>
          <p:cNvSpPr/>
          <p:nvPr/>
        </p:nvSpPr>
        <p:spPr>
          <a:xfrm>
            <a:off x="640080" y="3063240"/>
            <a:ext cx="3245760" cy="141696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Rectangle 8"/>
          <p:cNvSpPr/>
          <p:nvPr/>
        </p:nvSpPr>
        <p:spPr>
          <a:xfrm>
            <a:off x="640080" y="3063240"/>
            <a:ext cx="72720" cy="1416960"/>
          </a:xfrm>
          <a:prstGeom prst="rect">
            <a:avLst/>
          </a:prstGeom>
          <a:solidFill>
            <a:srgbClr val="28AAA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9"/>
          <p:cNvSpPr/>
          <p:nvPr/>
        </p:nvSpPr>
        <p:spPr>
          <a:xfrm>
            <a:off x="841320" y="322776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Proposed Solution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841320" y="3630240"/>
            <a:ext cx="289836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A centralized platform for customers, packages, warehouses, drivers, vehicles and shipments.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11"/>
          <p:cNvSpPr/>
          <p:nvPr/>
        </p:nvSpPr>
        <p:spPr>
          <a:xfrm>
            <a:off x="640080" y="4709160"/>
            <a:ext cx="3245760" cy="105120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Rectangle 12"/>
          <p:cNvSpPr/>
          <p:nvPr/>
        </p:nvSpPr>
        <p:spPr>
          <a:xfrm>
            <a:off x="640080" y="4709160"/>
            <a:ext cx="72720" cy="1051200"/>
          </a:xfrm>
          <a:prstGeom prst="rect">
            <a:avLst/>
          </a:prstGeom>
          <a:solidFill>
            <a:srgbClr val="F2913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13"/>
          <p:cNvSpPr/>
          <p:nvPr/>
        </p:nvSpPr>
        <p:spPr>
          <a:xfrm>
            <a:off x="841320" y="487368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Core Workflow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4"/>
          <p:cNvSpPr/>
          <p:nvPr/>
        </p:nvSpPr>
        <p:spPr>
          <a:xfrm>
            <a:off x="841320" y="5276160"/>
            <a:ext cx="28983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BOOK → REGISTER → PICK UP → PROCESS → TRANSIT → DELIVER → CONFIRM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8" name="Picture 15" descr="cover.png"/>
          <p:cNvPicPr/>
          <p:nvPr/>
        </p:nvPicPr>
        <p:blipFill>
          <a:blip r:embed="rId2"/>
          <a:stretch/>
        </p:blipFill>
        <p:spPr>
          <a:xfrm>
            <a:off x="4251960" y="1417320"/>
            <a:ext cx="7269120" cy="434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Box 16"/>
          <p:cNvSpPr/>
          <p:nvPr/>
        </p:nvSpPr>
        <p:spPr>
          <a:xfrm>
            <a:off x="4389120" y="58978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8AAA0"/>
                </a:solidFill>
                <a:effectLst/>
                <a:uFillTx/>
                <a:latin typeface="Aptos"/>
              </a:rPr>
              <a:t>Final-review focus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17"/>
          <p:cNvSpPr/>
          <p:nvPr/>
        </p:nvSpPr>
        <p:spPr>
          <a:xfrm>
            <a:off x="5897880" y="5870520"/>
            <a:ext cx="52117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Show the system as one connected workflow rather than separate modules.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8"/>
          <p:cNvSpPr/>
          <p:nvPr/>
        </p:nvSpPr>
        <p:spPr>
          <a:xfrm>
            <a:off x="594360" y="6510600"/>
            <a:ext cx="8686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Review 4  •  Smart Logistics &amp; Courier Tracking System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19"/>
          <p:cNvSpPr/>
          <p:nvPr/>
        </p:nvSpPr>
        <p:spPr>
          <a:xfrm>
            <a:off x="11155680" y="649224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"/>
          <p:cNvSpPr/>
          <p:nvPr/>
        </p:nvSpPr>
        <p:spPr>
          <a:xfrm>
            <a:off x="594360" y="38412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2. Accuracy of Results (10)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2"/>
          <p:cNvSpPr/>
          <p:nvPr/>
        </p:nvSpPr>
        <p:spPr>
          <a:xfrm>
            <a:off x="621720" y="932760"/>
            <a:ext cx="107895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Validation evidence to present during the final review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5" name="Picture 3" descr="accuracy.png"/>
          <p:cNvPicPr/>
          <p:nvPr/>
        </p:nvPicPr>
        <p:blipFill>
          <a:blip r:embed="rId2"/>
          <a:stretch/>
        </p:blipFill>
        <p:spPr>
          <a:xfrm>
            <a:off x="640080" y="1325880"/>
            <a:ext cx="6400440" cy="452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Rounded Rectangle 4"/>
          <p:cNvSpPr/>
          <p:nvPr/>
        </p:nvSpPr>
        <p:spPr>
          <a:xfrm>
            <a:off x="7315200" y="1417320"/>
            <a:ext cx="4160160" cy="91404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ectangle 5"/>
          <p:cNvSpPr/>
          <p:nvPr/>
        </p:nvSpPr>
        <p:spPr>
          <a:xfrm>
            <a:off x="7315200" y="1417320"/>
            <a:ext cx="72720" cy="914040"/>
          </a:xfrm>
          <a:prstGeom prst="rect">
            <a:avLst/>
          </a:prstGeom>
          <a:solidFill>
            <a:srgbClr val="28AAA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6"/>
          <p:cNvSpPr/>
          <p:nvPr/>
        </p:nvSpPr>
        <p:spPr>
          <a:xfrm>
            <a:off x="7516440" y="158184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Login &amp; Roles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7"/>
          <p:cNvSpPr/>
          <p:nvPr/>
        </p:nvSpPr>
        <p:spPr>
          <a:xfrm>
            <a:off x="7516440" y="1984320"/>
            <a:ext cx="3812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Customer/Admin entry and role-aware navigation.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Rounded Rectangle 8"/>
          <p:cNvSpPr/>
          <p:nvPr/>
        </p:nvSpPr>
        <p:spPr>
          <a:xfrm>
            <a:off x="7315200" y="2514600"/>
            <a:ext cx="4160160" cy="91404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ectangle 9"/>
          <p:cNvSpPr/>
          <p:nvPr/>
        </p:nvSpPr>
        <p:spPr>
          <a:xfrm>
            <a:off x="7315200" y="2514600"/>
            <a:ext cx="72720" cy="914040"/>
          </a:xfrm>
          <a:prstGeom prst="rect">
            <a:avLst/>
          </a:prstGeom>
          <a:solidFill>
            <a:srgbClr val="F2913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10"/>
          <p:cNvSpPr/>
          <p:nvPr/>
        </p:nvSpPr>
        <p:spPr>
          <a:xfrm>
            <a:off x="7516440" y="267912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Booking &amp; Tracking ID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1"/>
          <p:cNvSpPr/>
          <p:nvPr/>
        </p:nvSpPr>
        <p:spPr>
          <a:xfrm>
            <a:off x="7516440" y="3081600"/>
            <a:ext cx="3812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Create shipment and generate a tracking identity.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12"/>
          <p:cNvSpPr/>
          <p:nvPr/>
        </p:nvSpPr>
        <p:spPr>
          <a:xfrm>
            <a:off x="7315200" y="3611880"/>
            <a:ext cx="4160160" cy="91404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Rectangle 13"/>
          <p:cNvSpPr/>
          <p:nvPr/>
        </p:nvSpPr>
        <p:spPr>
          <a:xfrm>
            <a:off x="7315200" y="3611880"/>
            <a:ext cx="72720" cy="914040"/>
          </a:xfrm>
          <a:prstGeom prst="rect">
            <a:avLst/>
          </a:prstGeom>
          <a:solidFill>
            <a:srgbClr val="4CB57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14"/>
          <p:cNvSpPr/>
          <p:nvPr/>
        </p:nvSpPr>
        <p:spPr>
          <a:xfrm>
            <a:off x="7516440" y="377640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Tracking &amp; Status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15"/>
          <p:cNvSpPr/>
          <p:nvPr/>
        </p:nvSpPr>
        <p:spPr>
          <a:xfrm>
            <a:off x="7516440" y="4178880"/>
            <a:ext cx="3812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Show status timeline, shipment history and location.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Rounded Rectangle 16"/>
          <p:cNvSpPr/>
          <p:nvPr/>
        </p:nvSpPr>
        <p:spPr>
          <a:xfrm>
            <a:off x="7315200" y="4709160"/>
            <a:ext cx="4160160" cy="91404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Rectangle 17"/>
          <p:cNvSpPr/>
          <p:nvPr/>
        </p:nvSpPr>
        <p:spPr>
          <a:xfrm>
            <a:off x="7315200" y="4709160"/>
            <a:ext cx="72720" cy="914040"/>
          </a:xfrm>
          <a:prstGeom prst="rect">
            <a:avLst/>
          </a:prstGeom>
          <a:solidFill>
            <a:srgbClr val="EEBF4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18"/>
          <p:cNvSpPr/>
          <p:nvPr/>
        </p:nvSpPr>
        <p:spPr>
          <a:xfrm>
            <a:off x="7516440" y="487368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Admin Verification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19"/>
          <p:cNvSpPr/>
          <p:nvPr/>
        </p:nvSpPr>
        <p:spPr>
          <a:xfrm>
            <a:off x="7516440" y="5276160"/>
            <a:ext cx="3812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Show monitoring, exceptions, capacity and operational actions.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20"/>
          <p:cNvSpPr/>
          <p:nvPr/>
        </p:nvSpPr>
        <p:spPr>
          <a:xfrm>
            <a:off x="7315200" y="5833800"/>
            <a:ext cx="4160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Accuracy message: demonstrate input → processing → visible output for each major function.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21"/>
          <p:cNvSpPr/>
          <p:nvPr/>
        </p:nvSpPr>
        <p:spPr>
          <a:xfrm>
            <a:off x="594360" y="6510600"/>
            <a:ext cx="8686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Review 4  •  Smart Logistics &amp; Courier Tracking System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22"/>
          <p:cNvSpPr/>
          <p:nvPr/>
        </p:nvSpPr>
        <p:spPr>
          <a:xfrm>
            <a:off x="11155680" y="649224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"/>
          <p:cNvSpPr/>
          <p:nvPr/>
        </p:nvSpPr>
        <p:spPr>
          <a:xfrm>
            <a:off x="594360" y="38412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3. Technical Competence (10)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621720" y="932760"/>
            <a:ext cx="107895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Implementation stack, modular architecture and role-based operation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7" name="Picture 3" descr="architecture.png"/>
          <p:cNvPicPr/>
          <p:nvPr/>
        </p:nvPicPr>
        <p:blipFill>
          <a:blip r:embed="rId2"/>
          <a:stretch/>
        </p:blipFill>
        <p:spPr>
          <a:xfrm>
            <a:off x="640080" y="1325880"/>
            <a:ext cx="662904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Rounded Rectangle 4"/>
          <p:cNvSpPr/>
          <p:nvPr/>
        </p:nvSpPr>
        <p:spPr>
          <a:xfrm>
            <a:off x="7543800" y="1371600"/>
            <a:ext cx="3840120" cy="91404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Rectangle 5"/>
          <p:cNvSpPr/>
          <p:nvPr/>
        </p:nvSpPr>
        <p:spPr>
          <a:xfrm>
            <a:off x="7543800" y="1371600"/>
            <a:ext cx="72720" cy="914040"/>
          </a:xfrm>
          <a:prstGeom prst="rect">
            <a:avLst/>
          </a:prstGeom>
          <a:solidFill>
            <a:srgbClr val="28AAA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6"/>
          <p:cNvSpPr/>
          <p:nvPr/>
        </p:nvSpPr>
        <p:spPr>
          <a:xfrm>
            <a:off x="7745040" y="153612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Frontend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7"/>
          <p:cNvSpPr/>
          <p:nvPr/>
        </p:nvSpPr>
        <p:spPr>
          <a:xfrm>
            <a:off x="7745040" y="1938600"/>
            <a:ext cx="3492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HTML • CSS • JavaScript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Rounded Rectangle 8"/>
          <p:cNvSpPr/>
          <p:nvPr/>
        </p:nvSpPr>
        <p:spPr>
          <a:xfrm>
            <a:off x="7543800" y="2468880"/>
            <a:ext cx="3840120" cy="91404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Rectangle 9"/>
          <p:cNvSpPr/>
          <p:nvPr/>
        </p:nvSpPr>
        <p:spPr>
          <a:xfrm>
            <a:off x="7543800" y="2468880"/>
            <a:ext cx="72720" cy="914040"/>
          </a:xfrm>
          <a:prstGeom prst="rect">
            <a:avLst/>
          </a:prstGeom>
          <a:solidFill>
            <a:srgbClr val="F2913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10"/>
          <p:cNvSpPr/>
          <p:nvPr/>
        </p:nvSpPr>
        <p:spPr>
          <a:xfrm>
            <a:off x="7745040" y="263340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Backend / API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1"/>
          <p:cNvSpPr/>
          <p:nvPr/>
        </p:nvSpPr>
        <p:spPr>
          <a:xfrm>
            <a:off x="7745040" y="3035880"/>
            <a:ext cx="3492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PHP-based integration for application workflows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Rounded Rectangle 12"/>
          <p:cNvSpPr/>
          <p:nvPr/>
        </p:nvSpPr>
        <p:spPr>
          <a:xfrm>
            <a:off x="7543800" y="3566160"/>
            <a:ext cx="3840120" cy="91404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Rectangle 13"/>
          <p:cNvSpPr/>
          <p:nvPr/>
        </p:nvSpPr>
        <p:spPr>
          <a:xfrm>
            <a:off x="7543800" y="3566160"/>
            <a:ext cx="72720" cy="914040"/>
          </a:xfrm>
          <a:prstGeom prst="rect">
            <a:avLst/>
          </a:prstGeom>
          <a:solidFill>
            <a:srgbClr val="4CB57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14"/>
          <p:cNvSpPr/>
          <p:nvPr/>
        </p:nvSpPr>
        <p:spPr>
          <a:xfrm>
            <a:off x="7745040" y="373068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Database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5"/>
          <p:cNvSpPr/>
          <p:nvPr/>
        </p:nvSpPr>
        <p:spPr>
          <a:xfrm>
            <a:off x="7745040" y="4133160"/>
            <a:ext cx="3492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MySQL with modular entities for users, shipments, events and operations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Rounded Rectangle 16"/>
          <p:cNvSpPr/>
          <p:nvPr/>
        </p:nvSpPr>
        <p:spPr>
          <a:xfrm>
            <a:off x="7543800" y="4663440"/>
            <a:ext cx="3840120" cy="91404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Rectangle 17"/>
          <p:cNvSpPr/>
          <p:nvPr/>
        </p:nvSpPr>
        <p:spPr>
          <a:xfrm>
            <a:off x="7543800" y="4663440"/>
            <a:ext cx="72720" cy="914040"/>
          </a:xfrm>
          <a:prstGeom prst="rect">
            <a:avLst/>
          </a:prstGeom>
          <a:solidFill>
            <a:srgbClr val="EEBF4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18"/>
          <p:cNvSpPr/>
          <p:nvPr/>
        </p:nvSpPr>
        <p:spPr>
          <a:xfrm>
            <a:off x="7745040" y="482796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Development / Deployment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9"/>
          <p:cNvSpPr/>
          <p:nvPr/>
        </p:nvSpPr>
        <p:spPr>
          <a:xfrm>
            <a:off x="7745040" y="5230440"/>
            <a:ext cx="3492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XAMPP • VS Code • Git/GitHub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20"/>
          <p:cNvSpPr/>
          <p:nvPr/>
        </p:nvSpPr>
        <p:spPr>
          <a:xfrm>
            <a:off x="594360" y="6510600"/>
            <a:ext cx="8686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Review 4  •  Smart Logistics &amp; Courier Tracking System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21"/>
          <p:cNvSpPr/>
          <p:nvPr/>
        </p:nvSpPr>
        <p:spPr>
          <a:xfrm>
            <a:off x="11155680" y="649224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Box 1"/>
          <p:cNvSpPr/>
          <p:nvPr/>
        </p:nvSpPr>
        <p:spPr>
          <a:xfrm>
            <a:off x="594360" y="38412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4. Innovative &amp; Sustainable Features (10)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2"/>
          <p:cNvSpPr/>
          <p:nvPr/>
        </p:nvSpPr>
        <p:spPr>
          <a:xfrm>
            <a:off x="621720" y="932760"/>
            <a:ext cx="107895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Features that extend basic courier tracking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8" name="Picture 3" descr="innovation.png"/>
          <p:cNvPicPr/>
          <p:nvPr/>
        </p:nvPicPr>
        <p:blipFill>
          <a:blip r:embed="rId2"/>
          <a:stretch/>
        </p:blipFill>
        <p:spPr>
          <a:xfrm>
            <a:off x="594360" y="1234440"/>
            <a:ext cx="6583320" cy="475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Rounded Rectangle 4"/>
          <p:cNvSpPr/>
          <p:nvPr/>
        </p:nvSpPr>
        <p:spPr>
          <a:xfrm>
            <a:off x="7360920" y="1234440"/>
            <a:ext cx="4160160" cy="74952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Rectangle 5"/>
          <p:cNvSpPr/>
          <p:nvPr/>
        </p:nvSpPr>
        <p:spPr>
          <a:xfrm>
            <a:off x="7360920" y="1234440"/>
            <a:ext cx="72720" cy="749520"/>
          </a:xfrm>
          <a:prstGeom prst="rect">
            <a:avLst/>
          </a:prstGeom>
          <a:solidFill>
            <a:srgbClr val="28AAA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6"/>
          <p:cNvSpPr/>
          <p:nvPr/>
        </p:nvSpPr>
        <p:spPr>
          <a:xfrm>
            <a:off x="7562160" y="139896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AI-assisted allocation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7"/>
          <p:cNvSpPr/>
          <p:nvPr/>
        </p:nvSpPr>
        <p:spPr>
          <a:xfrm>
            <a:off x="7562160" y="1801440"/>
            <a:ext cx="3812760" cy="3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Matches priority, load, location and availability.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8"/>
          <p:cNvSpPr/>
          <p:nvPr/>
        </p:nvSpPr>
        <p:spPr>
          <a:xfrm>
            <a:off x="7360920" y="2148840"/>
            <a:ext cx="4160160" cy="74952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Rectangle 9"/>
          <p:cNvSpPr/>
          <p:nvPr/>
        </p:nvSpPr>
        <p:spPr>
          <a:xfrm>
            <a:off x="7360920" y="2148840"/>
            <a:ext cx="72720" cy="749520"/>
          </a:xfrm>
          <a:prstGeom prst="rect">
            <a:avLst/>
          </a:prstGeom>
          <a:solidFill>
            <a:srgbClr val="F2913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10"/>
          <p:cNvSpPr/>
          <p:nvPr/>
        </p:nvSpPr>
        <p:spPr>
          <a:xfrm>
            <a:off x="7562160" y="231336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Predictive ETA support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11"/>
          <p:cNvSpPr/>
          <p:nvPr/>
        </p:nvSpPr>
        <p:spPr>
          <a:xfrm>
            <a:off x="7562160" y="2715840"/>
            <a:ext cx="3812760" cy="3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Prototype delivery-time estimate for decision support.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Rounded Rectangle 12"/>
          <p:cNvSpPr/>
          <p:nvPr/>
        </p:nvSpPr>
        <p:spPr>
          <a:xfrm>
            <a:off x="7360920" y="3063240"/>
            <a:ext cx="4160160" cy="74952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Rectangle 13"/>
          <p:cNvSpPr/>
          <p:nvPr/>
        </p:nvSpPr>
        <p:spPr>
          <a:xfrm>
            <a:off x="7360920" y="3063240"/>
            <a:ext cx="72720" cy="749520"/>
          </a:xfrm>
          <a:prstGeom prst="rect">
            <a:avLst/>
          </a:prstGeom>
          <a:solidFill>
            <a:srgbClr val="DC5B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14"/>
          <p:cNvSpPr/>
          <p:nvPr/>
        </p:nvSpPr>
        <p:spPr>
          <a:xfrm>
            <a:off x="7562160" y="322776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Exception detection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15"/>
          <p:cNvSpPr/>
          <p:nvPr/>
        </p:nvSpPr>
        <p:spPr>
          <a:xfrm>
            <a:off x="7562160" y="3630240"/>
            <a:ext cx="3812760" cy="3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Flags delayed or anomalous operational cases.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16"/>
          <p:cNvSpPr/>
          <p:nvPr/>
        </p:nvSpPr>
        <p:spPr>
          <a:xfrm>
            <a:off x="7360920" y="3977640"/>
            <a:ext cx="4160160" cy="74952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Rectangle 17"/>
          <p:cNvSpPr/>
          <p:nvPr/>
        </p:nvSpPr>
        <p:spPr>
          <a:xfrm>
            <a:off x="7360920" y="3977640"/>
            <a:ext cx="72720" cy="749520"/>
          </a:xfrm>
          <a:prstGeom prst="rect">
            <a:avLst/>
          </a:prstGeom>
          <a:solidFill>
            <a:srgbClr val="EEBF4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18"/>
          <p:cNvSpPr/>
          <p:nvPr/>
        </p:nvSpPr>
        <p:spPr>
          <a:xfrm>
            <a:off x="7562160" y="414216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QR-ready identity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19"/>
          <p:cNvSpPr/>
          <p:nvPr/>
        </p:nvSpPr>
        <p:spPr>
          <a:xfrm>
            <a:off x="7562160" y="4544640"/>
            <a:ext cx="3812760" cy="3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Tracking payload foundation for QR-based lookup.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Rounded Rectangle 20"/>
          <p:cNvSpPr/>
          <p:nvPr/>
        </p:nvSpPr>
        <p:spPr>
          <a:xfrm>
            <a:off x="7360920" y="4892040"/>
            <a:ext cx="4160160" cy="74952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Rectangle 21"/>
          <p:cNvSpPr/>
          <p:nvPr/>
        </p:nvSpPr>
        <p:spPr>
          <a:xfrm>
            <a:off x="7360920" y="4892040"/>
            <a:ext cx="72720" cy="749520"/>
          </a:xfrm>
          <a:prstGeom prst="rect">
            <a:avLst/>
          </a:prstGeom>
          <a:solidFill>
            <a:srgbClr val="4CB57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22"/>
          <p:cNvSpPr/>
          <p:nvPr/>
        </p:nvSpPr>
        <p:spPr>
          <a:xfrm>
            <a:off x="7562160" y="505656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Sustainability insight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23"/>
          <p:cNvSpPr/>
          <p:nvPr/>
        </p:nvSpPr>
        <p:spPr>
          <a:xfrm>
            <a:off x="7562160" y="5459040"/>
            <a:ext cx="3812760" cy="3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Carbon-related indicator for greener decisions.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24"/>
          <p:cNvSpPr/>
          <p:nvPr/>
        </p:nvSpPr>
        <p:spPr>
          <a:xfrm>
            <a:off x="594360" y="6510600"/>
            <a:ext cx="8686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Review 4  •  Smart Logistics &amp; Courier Tracking System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25"/>
          <p:cNvSpPr/>
          <p:nvPr/>
        </p:nvSpPr>
        <p:spPr>
          <a:xfrm>
            <a:off x="11155680" y="649224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Box 1"/>
          <p:cNvSpPr/>
          <p:nvPr/>
        </p:nvSpPr>
        <p:spPr>
          <a:xfrm>
            <a:off x="594360" y="38412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5. Utility to Society (10)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2"/>
          <p:cNvSpPr/>
          <p:nvPr/>
        </p:nvSpPr>
        <p:spPr>
          <a:xfrm>
            <a:off x="621720" y="932760"/>
            <a:ext cx="107895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How the system improves visibility, coordination and accessible logistics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3" name="Picture 3" descr="society.png"/>
          <p:cNvPicPr/>
          <p:nvPr/>
        </p:nvPicPr>
        <p:blipFill>
          <a:blip r:embed="rId2"/>
          <a:stretch/>
        </p:blipFill>
        <p:spPr>
          <a:xfrm>
            <a:off x="594360" y="1371600"/>
            <a:ext cx="6537600" cy="434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Rounded Rectangle 4"/>
          <p:cNvSpPr/>
          <p:nvPr/>
        </p:nvSpPr>
        <p:spPr>
          <a:xfrm>
            <a:off x="7315200" y="1417320"/>
            <a:ext cx="4160160" cy="95976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Rectangle 5"/>
          <p:cNvSpPr/>
          <p:nvPr/>
        </p:nvSpPr>
        <p:spPr>
          <a:xfrm>
            <a:off x="7315200" y="1417320"/>
            <a:ext cx="72720" cy="959760"/>
          </a:xfrm>
          <a:prstGeom prst="rect">
            <a:avLst/>
          </a:prstGeom>
          <a:solidFill>
            <a:srgbClr val="28AAA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6"/>
          <p:cNvSpPr/>
          <p:nvPr/>
        </p:nvSpPr>
        <p:spPr>
          <a:xfrm>
            <a:off x="7516440" y="158184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Customer value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7"/>
          <p:cNvSpPr/>
          <p:nvPr/>
        </p:nvSpPr>
        <p:spPr>
          <a:xfrm>
            <a:off x="7516440" y="1984320"/>
            <a:ext cx="38127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Booking, tracking, history and clearer delivery visibility.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Rounded Rectangle 8"/>
          <p:cNvSpPr/>
          <p:nvPr/>
        </p:nvSpPr>
        <p:spPr>
          <a:xfrm>
            <a:off x="7315200" y="2560320"/>
            <a:ext cx="4160160" cy="95976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Rectangle 9"/>
          <p:cNvSpPr/>
          <p:nvPr/>
        </p:nvSpPr>
        <p:spPr>
          <a:xfrm>
            <a:off x="7315200" y="2560320"/>
            <a:ext cx="72720" cy="959760"/>
          </a:xfrm>
          <a:prstGeom prst="rect">
            <a:avLst/>
          </a:prstGeom>
          <a:solidFill>
            <a:srgbClr val="F2913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10"/>
          <p:cNvSpPr/>
          <p:nvPr/>
        </p:nvSpPr>
        <p:spPr>
          <a:xfrm>
            <a:off x="7516440" y="272484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Operational value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11"/>
          <p:cNvSpPr/>
          <p:nvPr/>
        </p:nvSpPr>
        <p:spPr>
          <a:xfrm>
            <a:off x="7516440" y="3127320"/>
            <a:ext cx="38127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Warehouse, driver/vehicle allocation, monitoring and reports.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Rounded Rectangle 12"/>
          <p:cNvSpPr/>
          <p:nvPr/>
        </p:nvSpPr>
        <p:spPr>
          <a:xfrm>
            <a:off x="7315200" y="3703320"/>
            <a:ext cx="4160160" cy="95976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Rectangle 13"/>
          <p:cNvSpPr/>
          <p:nvPr/>
        </p:nvSpPr>
        <p:spPr>
          <a:xfrm>
            <a:off x="7315200" y="3703320"/>
            <a:ext cx="72720" cy="959760"/>
          </a:xfrm>
          <a:prstGeom prst="rect">
            <a:avLst/>
          </a:prstGeom>
          <a:solidFill>
            <a:srgbClr val="4CB57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14"/>
          <p:cNvSpPr/>
          <p:nvPr/>
        </p:nvSpPr>
        <p:spPr>
          <a:xfrm>
            <a:off x="7516440" y="386784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Community value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5"/>
          <p:cNvSpPr/>
          <p:nvPr/>
        </p:nvSpPr>
        <p:spPr>
          <a:xfrm>
            <a:off x="7516440" y="4270320"/>
            <a:ext cx="38127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Better coordination and shipment transparency support dependable service.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16"/>
          <p:cNvSpPr/>
          <p:nvPr/>
        </p:nvSpPr>
        <p:spPr>
          <a:xfrm>
            <a:off x="7315200" y="4846320"/>
            <a:ext cx="4160160" cy="95976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Rectangle 17"/>
          <p:cNvSpPr/>
          <p:nvPr/>
        </p:nvSpPr>
        <p:spPr>
          <a:xfrm>
            <a:off x="7315200" y="4846320"/>
            <a:ext cx="72720" cy="959760"/>
          </a:xfrm>
          <a:prstGeom prst="rect">
            <a:avLst/>
          </a:prstGeom>
          <a:solidFill>
            <a:srgbClr val="EEBF4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18"/>
          <p:cNvSpPr/>
          <p:nvPr/>
        </p:nvSpPr>
        <p:spPr>
          <a:xfrm>
            <a:off x="7516440" y="501084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Sustainability value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19"/>
          <p:cNvSpPr/>
          <p:nvPr/>
        </p:nvSpPr>
        <p:spPr>
          <a:xfrm>
            <a:off x="7516440" y="5413320"/>
            <a:ext cx="38127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Carbon-related indicators support greener logistics decisions.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20"/>
          <p:cNvSpPr/>
          <p:nvPr/>
        </p:nvSpPr>
        <p:spPr>
          <a:xfrm>
            <a:off x="594360" y="6510600"/>
            <a:ext cx="8686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Review 4  •  Smart Logistics &amp; Courier Tracking System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21"/>
          <p:cNvSpPr/>
          <p:nvPr/>
        </p:nvSpPr>
        <p:spPr>
          <a:xfrm>
            <a:off x="11155680" y="649224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Box 1"/>
          <p:cNvSpPr/>
          <p:nvPr/>
        </p:nvSpPr>
        <p:spPr>
          <a:xfrm>
            <a:off x="594360" y="38412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6. Methodology &amp; Validation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2"/>
          <p:cNvSpPr/>
          <p:nvPr/>
        </p:nvSpPr>
        <p:spPr>
          <a:xfrm>
            <a:off x="621720" y="932760"/>
            <a:ext cx="107895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Requirement analysis → database → frontend → PHP/API → testing → demonstration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4" name="Picture 3" descr="methodology.png"/>
          <p:cNvPicPr/>
          <p:nvPr/>
        </p:nvPicPr>
        <p:blipFill>
          <a:blip r:embed="rId2"/>
          <a:stretch/>
        </p:blipFill>
        <p:spPr>
          <a:xfrm>
            <a:off x="685800" y="1417320"/>
            <a:ext cx="10835280" cy="452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TextBox 4"/>
          <p:cNvSpPr/>
          <p:nvPr/>
        </p:nvSpPr>
        <p:spPr>
          <a:xfrm>
            <a:off x="731520" y="59252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8AAA0"/>
                </a:solidFill>
                <a:effectLst/>
                <a:uFillTx/>
                <a:latin typeface="Aptos"/>
              </a:rPr>
              <a:t>Validation principle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5"/>
          <p:cNvSpPr/>
          <p:nvPr/>
        </p:nvSpPr>
        <p:spPr>
          <a:xfrm>
            <a:off x="2240280" y="5879520"/>
            <a:ext cx="90522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For every module, show the input, implemented behavior, output and test evidence.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6"/>
          <p:cNvSpPr/>
          <p:nvPr/>
        </p:nvSpPr>
        <p:spPr>
          <a:xfrm>
            <a:off x="594360" y="6510600"/>
            <a:ext cx="8686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Review 4  •  Smart Logistics &amp; Courier Tracking System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7"/>
          <p:cNvSpPr/>
          <p:nvPr/>
        </p:nvSpPr>
        <p:spPr>
          <a:xfrm>
            <a:off x="11155680" y="649224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7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Box 1"/>
          <p:cNvSpPr/>
          <p:nvPr/>
        </p:nvSpPr>
        <p:spPr>
          <a:xfrm>
            <a:off x="594360" y="38412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7. Final System Implementation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2"/>
          <p:cNvSpPr/>
          <p:nvPr/>
        </p:nvSpPr>
        <p:spPr>
          <a:xfrm>
            <a:off x="621720" y="932760"/>
            <a:ext cx="107895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Functional components included in the upgraded website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Rounded Rectangle 3"/>
          <p:cNvSpPr/>
          <p:nvPr/>
        </p:nvSpPr>
        <p:spPr>
          <a:xfrm>
            <a:off x="640080" y="1371600"/>
            <a:ext cx="3154320" cy="141696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Rectangle 4"/>
          <p:cNvSpPr/>
          <p:nvPr/>
        </p:nvSpPr>
        <p:spPr>
          <a:xfrm>
            <a:off x="640080" y="1371600"/>
            <a:ext cx="72720" cy="1416960"/>
          </a:xfrm>
          <a:prstGeom prst="rect">
            <a:avLst/>
          </a:prstGeom>
          <a:solidFill>
            <a:srgbClr val="28AAA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5"/>
          <p:cNvSpPr/>
          <p:nvPr/>
        </p:nvSpPr>
        <p:spPr>
          <a:xfrm>
            <a:off x="841320" y="15361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Login &amp; Roles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6"/>
          <p:cNvSpPr/>
          <p:nvPr/>
        </p:nvSpPr>
        <p:spPr>
          <a:xfrm>
            <a:off x="841320" y="1938600"/>
            <a:ext cx="280692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Admin / Customer entry and role-aware navigation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Rounded Rectangle 7"/>
          <p:cNvSpPr/>
          <p:nvPr/>
        </p:nvSpPr>
        <p:spPr>
          <a:xfrm>
            <a:off x="4160520" y="1371600"/>
            <a:ext cx="3154320" cy="141696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Rectangle 8"/>
          <p:cNvSpPr/>
          <p:nvPr/>
        </p:nvSpPr>
        <p:spPr>
          <a:xfrm>
            <a:off x="4160520" y="1371600"/>
            <a:ext cx="72720" cy="1416960"/>
          </a:xfrm>
          <a:prstGeom prst="rect">
            <a:avLst/>
          </a:prstGeom>
          <a:solidFill>
            <a:srgbClr val="F2913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9"/>
          <p:cNvSpPr/>
          <p:nvPr/>
        </p:nvSpPr>
        <p:spPr>
          <a:xfrm>
            <a:off x="4361760" y="15361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Courier Booking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10"/>
          <p:cNvSpPr/>
          <p:nvPr/>
        </p:nvSpPr>
        <p:spPr>
          <a:xfrm>
            <a:off x="4361760" y="1938600"/>
            <a:ext cx="280692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Shipment creation and tracking ID generation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Rounded Rectangle 11"/>
          <p:cNvSpPr/>
          <p:nvPr/>
        </p:nvSpPr>
        <p:spPr>
          <a:xfrm>
            <a:off x="7680960" y="1371600"/>
            <a:ext cx="3154320" cy="141696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Rectangle 12"/>
          <p:cNvSpPr/>
          <p:nvPr/>
        </p:nvSpPr>
        <p:spPr>
          <a:xfrm>
            <a:off x="7680960" y="1371600"/>
            <a:ext cx="72720" cy="1416960"/>
          </a:xfrm>
          <a:prstGeom prst="rect">
            <a:avLst/>
          </a:prstGeom>
          <a:solidFill>
            <a:srgbClr val="4CB57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13"/>
          <p:cNvSpPr/>
          <p:nvPr/>
        </p:nvSpPr>
        <p:spPr>
          <a:xfrm>
            <a:off x="7882200" y="15361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Tracking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14"/>
          <p:cNvSpPr/>
          <p:nvPr/>
        </p:nvSpPr>
        <p:spPr>
          <a:xfrm>
            <a:off x="7882200" y="1938600"/>
            <a:ext cx="280692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Status timeline and shipment history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Rounded Rectangle 15"/>
          <p:cNvSpPr/>
          <p:nvPr/>
        </p:nvSpPr>
        <p:spPr>
          <a:xfrm>
            <a:off x="640080" y="3246120"/>
            <a:ext cx="3154320" cy="141696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Rectangle 16"/>
          <p:cNvSpPr/>
          <p:nvPr/>
        </p:nvSpPr>
        <p:spPr>
          <a:xfrm>
            <a:off x="640080" y="3246120"/>
            <a:ext cx="72720" cy="1416960"/>
          </a:xfrm>
          <a:prstGeom prst="rect">
            <a:avLst/>
          </a:prstGeom>
          <a:solidFill>
            <a:srgbClr val="EEBF4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17"/>
          <p:cNvSpPr/>
          <p:nvPr/>
        </p:nvSpPr>
        <p:spPr>
          <a:xfrm>
            <a:off x="841320" y="341064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Operations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18"/>
          <p:cNvSpPr/>
          <p:nvPr/>
        </p:nvSpPr>
        <p:spPr>
          <a:xfrm>
            <a:off x="841320" y="3813120"/>
            <a:ext cx="280692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Warehouse, inventory, driver / vehicle allocation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Rounded Rectangle 19"/>
          <p:cNvSpPr/>
          <p:nvPr/>
        </p:nvSpPr>
        <p:spPr>
          <a:xfrm>
            <a:off x="4160520" y="3246120"/>
            <a:ext cx="3154320" cy="141696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Rectangle 20"/>
          <p:cNvSpPr/>
          <p:nvPr/>
        </p:nvSpPr>
        <p:spPr>
          <a:xfrm>
            <a:off x="4160520" y="3246120"/>
            <a:ext cx="72720" cy="1416960"/>
          </a:xfrm>
          <a:prstGeom prst="rect">
            <a:avLst/>
          </a:prstGeom>
          <a:solidFill>
            <a:srgbClr val="28AAA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21"/>
          <p:cNvSpPr/>
          <p:nvPr/>
        </p:nvSpPr>
        <p:spPr>
          <a:xfrm>
            <a:off x="4361760" y="341064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Admin Dashboard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22"/>
          <p:cNvSpPr/>
          <p:nvPr/>
        </p:nvSpPr>
        <p:spPr>
          <a:xfrm>
            <a:off x="4361760" y="3813120"/>
            <a:ext cx="280692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Monitoring, reports, analytics and actions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Rounded Rectangle 23"/>
          <p:cNvSpPr/>
          <p:nvPr/>
        </p:nvSpPr>
        <p:spPr>
          <a:xfrm>
            <a:off x="7680960" y="3246120"/>
            <a:ext cx="3154320" cy="141696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Rectangle 24"/>
          <p:cNvSpPr/>
          <p:nvPr/>
        </p:nvSpPr>
        <p:spPr>
          <a:xfrm>
            <a:off x="7680960" y="3246120"/>
            <a:ext cx="72720" cy="1416960"/>
          </a:xfrm>
          <a:prstGeom prst="rect">
            <a:avLst/>
          </a:prstGeom>
          <a:solidFill>
            <a:srgbClr val="DC5B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25"/>
          <p:cNvSpPr/>
          <p:nvPr/>
        </p:nvSpPr>
        <p:spPr>
          <a:xfrm>
            <a:off x="7882200" y="341064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Feedback &amp; Returns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26"/>
          <p:cNvSpPr/>
          <p:nvPr/>
        </p:nvSpPr>
        <p:spPr>
          <a:xfrm>
            <a:off x="7882200" y="3813120"/>
            <a:ext cx="280692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Ratings, feedback and reverse logistics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27"/>
          <p:cNvSpPr/>
          <p:nvPr/>
        </p:nvSpPr>
        <p:spPr>
          <a:xfrm>
            <a:off x="914400" y="5257800"/>
            <a:ext cx="103323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Final-review tip: open the live system and connect each screen to one rubric component.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28"/>
          <p:cNvSpPr/>
          <p:nvPr/>
        </p:nvSpPr>
        <p:spPr>
          <a:xfrm>
            <a:off x="594360" y="6510600"/>
            <a:ext cx="8686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Review 4  •  Smart Logistics &amp; Courier Tracking System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29"/>
          <p:cNvSpPr/>
          <p:nvPr/>
        </p:nvSpPr>
        <p:spPr>
          <a:xfrm>
            <a:off x="11155680" y="649224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Box 1"/>
          <p:cNvSpPr/>
          <p:nvPr/>
        </p:nvSpPr>
        <p:spPr>
          <a:xfrm>
            <a:off x="594360" y="38412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8. Location Visibility &amp; User Experience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2"/>
          <p:cNvSpPr/>
          <p:nvPr/>
        </p:nvSpPr>
        <p:spPr>
          <a:xfrm>
            <a:off x="621720" y="932760"/>
            <a:ext cx="107895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Traceability plus clear status communication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Rounded Rectangle 3"/>
          <p:cNvSpPr/>
          <p:nvPr/>
        </p:nvSpPr>
        <p:spPr>
          <a:xfrm>
            <a:off x="731520" y="1463040"/>
            <a:ext cx="2148480" cy="123408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28AAA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4"/>
          <p:cNvSpPr/>
          <p:nvPr/>
        </p:nvSpPr>
        <p:spPr>
          <a:xfrm>
            <a:off x="868680" y="1691640"/>
            <a:ext cx="1874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8AAA0"/>
                </a:solidFill>
                <a:effectLst/>
                <a:uFillTx/>
                <a:latin typeface="Aptos"/>
              </a:rPr>
              <a:t>ORIGIN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5"/>
          <p:cNvSpPr/>
          <p:nvPr/>
        </p:nvSpPr>
        <p:spPr>
          <a:xfrm>
            <a:off x="868680" y="2057400"/>
            <a:ext cx="1874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Pickup location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6"/>
          <p:cNvSpPr/>
          <p:nvPr/>
        </p:nvSpPr>
        <p:spPr>
          <a:xfrm>
            <a:off x="2926080" y="182880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→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Rounded Rectangle 7"/>
          <p:cNvSpPr/>
          <p:nvPr/>
        </p:nvSpPr>
        <p:spPr>
          <a:xfrm>
            <a:off x="3520440" y="1463040"/>
            <a:ext cx="2148480" cy="123408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F2913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8"/>
          <p:cNvSpPr/>
          <p:nvPr/>
        </p:nvSpPr>
        <p:spPr>
          <a:xfrm>
            <a:off x="3657600" y="1691640"/>
            <a:ext cx="1874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29134"/>
                </a:solidFill>
                <a:effectLst/>
                <a:uFillTx/>
                <a:latin typeface="Aptos"/>
              </a:rPr>
              <a:t>WAREHOUSE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9"/>
          <p:cNvSpPr/>
          <p:nvPr/>
        </p:nvSpPr>
        <p:spPr>
          <a:xfrm>
            <a:off x="3657600" y="2057400"/>
            <a:ext cx="1874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Processing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10"/>
          <p:cNvSpPr/>
          <p:nvPr/>
        </p:nvSpPr>
        <p:spPr>
          <a:xfrm>
            <a:off x="5715000" y="182880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→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Rounded Rectangle 11"/>
          <p:cNvSpPr/>
          <p:nvPr/>
        </p:nvSpPr>
        <p:spPr>
          <a:xfrm>
            <a:off x="6309360" y="1463040"/>
            <a:ext cx="2148480" cy="123408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EEBF4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12"/>
          <p:cNvSpPr/>
          <p:nvPr/>
        </p:nvSpPr>
        <p:spPr>
          <a:xfrm>
            <a:off x="6446520" y="1691640"/>
            <a:ext cx="1874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EEBF4C"/>
                </a:solidFill>
                <a:effectLst/>
                <a:uFillTx/>
                <a:latin typeface="Aptos"/>
              </a:rPr>
              <a:t>TRANSIT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13"/>
          <p:cNvSpPr/>
          <p:nvPr/>
        </p:nvSpPr>
        <p:spPr>
          <a:xfrm>
            <a:off x="6446520" y="2057400"/>
            <a:ext cx="1874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In motion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14"/>
          <p:cNvSpPr/>
          <p:nvPr/>
        </p:nvSpPr>
        <p:spPr>
          <a:xfrm>
            <a:off x="8503920" y="182880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→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Rounded Rectangle 15"/>
          <p:cNvSpPr/>
          <p:nvPr/>
        </p:nvSpPr>
        <p:spPr>
          <a:xfrm>
            <a:off x="9098280" y="1463040"/>
            <a:ext cx="2148480" cy="123408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4CB57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16"/>
          <p:cNvSpPr/>
          <p:nvPr/>
        </p:nvSpPr>
        <p:spPr>
          <a:xfrm>
            <a:off x="9235440" y="1691640"/>
            <a:ext cx="1874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4CB57D"/>
                </a:solidFill>
                <a:effectLst/>
                <a:uFillTx/>
                <a:latin typeface="Aptos"/>
              </a:rPr>
              <a:t>DESTINATION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17"/>
          <p:cNvSpPr/>
          <p:nvPr/>
        </p:nvSpPr>
        <p:spPr>
          <a:xfrm>
            <a:off x="9235440" y="2057400"/>
            <a:ext cx="1874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Delivery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Rounded Rectangle 18"/>
          <p:cNvSpPr/>
          <p:nvPr/>
        </p:nvSpPr>
        <p:spPr>
          <a:xfrm>
            <a:off x="731520" y="3063240"/>
            <a:ext cx="5120280" cy="105120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Rectangle 19"/>
          <p:cNvSpPr/>
          <p:nvPr/>
        </p:nvSpPr>
        <p:spPr>
          <a:xfrm>
            <a:off x="731520" y="3063240"/>
            <a:ext cx="72720" cy="1051200"/>
          </a:xfrm>
          <a:prstGeom prst="rect">
            <a:avLst/>
          </a:prstGeom>
          <a:solidFill>
            <a:srgbClr val="28AAA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20"/>
          <p:cNvSpPr/>
          <p:nvPr/>
        </p:nvSpPr>
        <p:spPr>
          <a:xfrm>
            <a:off x="932760" y="3227760"/>
            <a:ext cx="4800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UX / Animation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21"/>
          <p:cNvSpPr/>
          <p:nvPr/>
        </p:nvSpPr>
        <p:spPr>
          <a:xfrm>
            <a:off x="932760" y="3630240"/>
            <a:ext cx="47728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Animated dashboard cards, progress indicators, smooth navigation and status timeline.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Rounded Rectangle 22"/>
          <p:cNvSpPr/>
          <p:nvPr/>
        </p:nvSpPr>
        <p:spPr>
          <a:xfrm>
            <a:off x="6172200" y="3063240"/>
            <a:ext cx="5120280" cy="105120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Rectangle 23"/>
          <p:cNvSpPr/>
          <p:nvPr/>
        </p:nvSpPr>
        <p:spPr>
          <a:xfrm>
            <a:off x="6172200" y="3063240"/>
            <a:ext cx="72720" cy="1051200"/>
          </a:xfrm>
          <a:prstGeom prst="rect">
            <a:avLst/>
          </a:prstGeom>
          <a:solidFill>
            <a:srgbClr val="4CB57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TextBox 24"/>
          <p:cNvSpPr/>
          <p:nvPr/>
        </p:nvSpPr>
        <p:spPr>
          <a:xfrm>
            <a:off x="6373440" y="3227760"/>
            <a:ext cx="4800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Responsive &amp; Accessible UI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25"/>
          <p:cNvSpPr/>
          <p:nvPr/>
        </p:nvSpPr>
        <p:spPr>
          <a:xfrm>
            <a:off x="6373440" y="3630240"/>
            <a:ext cx="47728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Readable labels, contrast, responsive layouts and keyboard-friendly controls.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Rounded Rectangle 26"/>
          <p:cNvSpPr/>
          <p:nvPr/>
        </p:nvSpPr>
        <p:spPr>
          <a:xfrm>
            <a:off x="731520" y="4389120"/>
            <a:ext cx="5120280" cy="105120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Rectangle 27"/>
          <p:cNvSpPr/>
          <p:nvPr/>
        </p:nvSpPr>
        <p:spPr>
          <a:xfrm>
            <a:off x="731520" y="4389120"/>
            <a:ext cx="72720" cy="1051200"/>
          </a:xfrm>
          <a:prstGeom prst="rect">
            <a:avLst/>
          </a:prstGeom>
          <a:solidFill>
            <a:srgbClr val="F2913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Box 28"/>
          <p:cNvSpPr/>
          <p:nvPr/>
        </p:nvSpPr>
        <p:spPr>
          <a:xfrm>
            <a:off x="932760" y="4553640"/>
            <a:ext cx="4800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Future Location Upgrade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29"/>
          <p:cNvSpPr/>
          <p:nvPr/>
        </p:nvSpPr>
        <p:spPr>
          <a:xfrm>
            <a:off x="932760" y="4956120"/>
            <a:ext cx="47728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Browser/device geolocation or mapping API can support live driver position and route visualization.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Rounded Rectangle 30"/>
          <p:cNvSpPr/>
          <p:nvPr/>
        </p:nvSpPr>
        <p:spPr>
          <a:xfrm>
            <a:off x="6172200" y="4389120"/>
            <a:ext cx="5120280" cy="105120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Rectangle 31"/>
          <p:cNvSpPr/>
          <p:nvPr/>
        </p:nvSpPr>
        <p:spPr>
          <a:xfrm>
            <a:off x="6172200" y="4389120"/>
            <a:ext cx="72720" cy="1051200"/>
          </a:xfrm>
          <a:prstGeom prst="rect">
            <a:avLst/>
          </a:prstGeom>
          <a:solidFill>
            <a:srgbClr val="EEBF4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TextBox 32"/>
          <p:cNvSpPr/>
          <p:nvPr/>
        </p:nvSpPr>
        <p:spPr>
          <a:xfrm>
            <a:off x="6373440" y="4553640"/>
            <a:ext cx="4800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Operational Benefit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33"/>
          <p:cNvSpPr/>
          <p:nvPr/>
        </p:nvSpPr>
        <p:spPr>
          <a:xfrm>
            <a:off x="6373440" y="4956120"/>
            <a:ext cx="47728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Location information can support ETA prediction, exception detection and route optimization.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34"/>
          <p:cNvSpPr/>
          <p:nvPr/>
        </p:nvSpPr>
        <p:spPr>
          <a:xfrm>
            <a:off x="594360" y="6510600"/>
            <a:ext cx="8686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Review 4  •  Smart Logistics &amp; Courier Tracking System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35"/>
          <p:cNvSpPr/>
          <p:nvPr/>
        </p:nvSpPr>
        <p:spPr>
          <a:xfrm>
            <a:off x="11155680" y="649224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9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Box 1"/>
          <p:cNvSpPr/>
          <p:nvPr/>
        </p:nvSpPr>
        <p:spPr>
          <a:xfrm>
            <a:off x="594360" y="38412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9. Dissemination, Accessibility &amp; Sustainability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2"/>
          <p:cNvSpPr/>
          <p:nvPr/>
        </p:nvSpPr>
        <p:spPr>
          <a:xfrm>
            <a:off x="621720" y="932760"/>
            <a:ext cx="107895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How the project can be demonstrated, documented and extended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Rounded Rectangle 3"/>
          <p:cNvSpPr/>
          <p:nvPr/>
        </p:nvSpPr>
        <p:spPr>
          <a:xfrm>
            <a:off x="685800" y="1371600"/>
            <a:ext cx="3428640" cy="132552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Rectangle 4"/>
          <p:cNvSpPr/>
          <p:nvPr/>
        </p:nvSpPr>
        <p:spPr>
          <a:xfrm>
            <a:off x="685800" y="1371600"/>
            <a:ext cx="72720" cy="1325520"/>
          </a:xfrm>
          <a:prstGeom prst="rect">
            <a:avLst/>
          </a:prstGeom>
          <a:solidFill>
            <a:srgbClr val="28AAA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TextBox 5"/>
          <p:cNvSpPr/>
          <p:nvPr/>
        </p:nvSpPr>
        <p:spPr>
          <a:xfrm>
            <a:off x="887040" y="153612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Live Demonstration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6"/>
          <p:cNvSpPr/>
          <p:nvPr/>
        </p:nvSpPr>
        <p:spPr>
          <a:xfrm>
            <a:off x="887040" y="1938600"/>
            <a:ext cx="308124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Run on XAMPP and demonstrate login, booking, tracking, operations and admin flows.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Rounded Rectangle 7"/>
          <p:cNvSpPr/>
          <p:nvPr/>
        </p:nvSpPr>
        <p:spPr>
          <a:xfrm>
            <a:off x="4389120" y="1371600"/>
            <a:ext cx="3428640" cy="132552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Rectangle 8"/>
          <p:cNvSpPr/>
          <p:nvPr/>
        </p:nvSpPr>
        <p:spPr>
          <a:xfrm>
            <a:off x="4389120" y="1371600"/>
            <a:ext cx="72720" cy="1325520"/>
          </a:xfrm>
          <a:prstGeom prst="rect">
            <a:avLst/>
          </a:prstGeom>
          <a:solidFill>
            <a:srgbClr val="F2913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Box 9"/>
          <p:cNvSpPr/>
          <p:nvPr/>
        </p:nvSpPr>
        <p:spPr>
          <a:xfrm>
            <a:off x="4590360" y="153612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Documentation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10"/>
          <p:cNvSpPr/>
          <p:nvPr/>
        </p:nvSpPr>
        <p:spPr>
          <a:xfrm>
            <a:off x="4590360" y="1938600"/>
            <a:ext cx="308124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README, database schema, workflow, module descriptions and setup instructions.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Rounded Rectangle 11"/>
          <p:cNvSpPr/>
          <p:nvPr/>
        </p:nvSpPr>
        <p:spPr>
          <a:xfrm>
            <a:off x="8092440" y="1371600"/>
            <a:ext cx="3428640" cy="132552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Rectangle 12"/>
          <p:cNvSpPr/>
          <p:nvPr/>
        </p:nvSpPr>
        <p:spPr>
          <a:xfrm>
            <a:off x="8092440" y="1371600"/>
            <a:ext cx="72720" cy="1325520"/>
          </a:xfrm>
          <a:prstGeom prst="rect">
            <a:avLst/>
          </a:prstGeom>
          <a:solidFill>
            <a:srgbClr val="4CB57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13"/>
          <p:cNvSpPr/>
          <p:nvPr/>
        </p:nvSpPr>
        <p:spPr>
          <a:xfrm>
            <a:off x="8293680" y="153612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Academic Dissemination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14"/>
          <p:cNvSpPr/>
          <p:nvPr/>
        </p:nvSpPr>
        <p:spPr>
          <a:xfrm>
            <a:off x="8293680" y="1938600"/>
            <a:ext cx="308124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Screenshots, architecture/workflow diagrams, test results and review material.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Rounded Rectangle 15"/>
          <p:cNvSpPr/>
          <p:nvPr/>
        </p:nvSpPr>
        <p:spPr>
          <a:xfrm>
            <a:off x="685800" y="3154680"/>
            <a:ext cx="3428640" cy="132552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Rectangle 16"/>
          <p:cNvSpPr/>
          <p:nvPr/>
        </p:nvSpPr>
        <p:spPr>
          <a:xfrm>
            <a:off x="685800" y="3154680"/>
            <a:ext cx="72720" cy="1325520"/>
          </a:xfrm>
          <a:prstGeom prst="rect">
            <a:avLst/>
          </a:prstGeom>
          <a:solidFill>
            <a:srgbClr val="EEBF4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Box 17"/>
          <p:cNvSpPr/>
          <p:nvPr/>
        </p:nvSpPr>
        <p:spPr>
          <a:xfrm>
            <a:off x="887040" y="331920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Accessibility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18"/>
          <p:cNvSpPr/>
          <p:nvPr/>
        </p:nvSpPr>
        <p:spPr>
          <a:xfrm>
            <a:off x="887040" y="3721680"/>
            <a:ext cx="308124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Simple navigation, consistent labels, responsive layout and readable status indicators.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Rounded Rectangle 19"/>
          <p:cNvSpPr/>
          <p:nvPr/>
        </p:nvSpPr>
        <p:spPr>
          <a:xfrm>
            <a:off x="4389120" y="3154680"/>
            <a:ext cx="3428640" cy="132552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Rectangle 20"/>
          <p:cNvSpPr/>
          <p:nvPr/>
        </p:nvSpPr>
        <p:spPr>
          <a:xfrm>
            <a:off x="4389120" y="3154680"/>
            <a:ext cx="72720" cy="1325520"/>
          </a:xfrm>
          <a:prstGeom prst="rect">
            <a:avLst/>
          </a:prstGeom>
          <a:solidFill>
            <a:srgbClr val="DC5B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Box 21"/>
          <p:cNvSpPr/>
          <p:nvPr/>
        </p:nvSpPr>
        <p:spPr>
          <a:xfrm>
            <a:off x="4590360" y="331920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Transparency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22"/>
          <p:cNvSpPr/>
          <p:nvPr/>
        </p:nvSpPr>
        <p:spPr>
          <a:xfrm>
            <a:off x="4590360" y="3721680"/>
            <a:ext cx="308124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Explain AI decision-support rules rather than presenting them as unexplained predictions.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Rounded Rectangle 23"/>
          <p:cNvSpPr/>
          <p:nvPr/>
        </p:nvSpPr>
        <p:spPr>
          <a:xfrm>
            <a:off x="8092440" y="3154680"/>
            <a:ext cx="3428640" cy="1325520"/>
          </a:xfrm>
          <a:prstGeom prst="roundRect">
            <a:avLst>
              <a:gd name="adj" fmla="val 16667"/>
            </a:avLst>
          </a:prstGeom>
          <a:solidFill>
            <a:srgbClr val="192C49"/>
          </a:solidFill>
          <a:ln>
            <a:solidFill>
              <a:srgbClr val="3248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Rectangle 24"/>
          <p:cNvSpPr/>
          <p:nvPr/>
        </p:nvSpPr>
        <p:spPr>
          <a:xfrm>
            <a:off x="8092440" y="3154680"/>
            <a:ext cx="72720" cy="1325520"/>
          </a:xfrm>
          <a:prstGeom prst="rect">
            <a:avLst/>
          </a:prstGeom>
          <a:solidFill>
            <a:srgbClr val="28AAA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Box 25"/>
          <p:cNvSpPr/>
          <p:nvPr/>
        </p:nvSpPr>
        <p:spPr>
          <a:xfrm>
            <a:off x="8293680" y="331920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Future Sharing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26"/>
          <p:cNvSpPr/>
          <p:nvPr/>
        </p:nvSpPr>
        <p:spPr>
          <a:xfrm>
            <a:off x="8293680" y="3721680"/>
            <a:ext cx="308124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GitHub repository, hosted demo, user manual and walkthrough video.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27"/>
          <p:cNvSpPr/>
          <p:nvPr/>
        </p:nvSpPr>
        <p:spPr>
          <a:xfrm>
            <a:off x="914400" y="5166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Sustainability direction: carbon tracking + smarter allocation + future route optimization.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28"/>
          <p:cNvSpPr/>
          <p:nvPr/>
        </p:nvSpPr>
        <p:spPr>
          <a:xfrm>
            <a:off x="594360" y="6510600"/>
            <a:ext cx="8686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Review 4  •  Smart Logistics &amp; Courier Tracking System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29"/>
          <p:cNvSpPr/>
          <p:nvPr/>
        </p:nvSpPr>
        <p:spPr>
          <a:xfrm>
            <a:off x="11155680" y="649224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10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Box 1"/>
          <p:cNvSpPr/>
          <p:nvPr/>
        </p:nvSpPr>
        <p:spPr>
          <a:xfrm>
            <a:off x="594360" y="38412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10. Review 4 Rubric Mapping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2"/>
          <p:cNvSpPr/>
          <p:nvPr/>
        </p:nvSpPr>
        <p:spPr>
          <a:xfrm>
            <a:off x="621720" y="932760"/>
            <a:ext cx="107895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Direct evidence for the five 10-mark components shown in your Review 3 rubric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4" name="Picture 3" descr="rubric.png"/>
          <p:cNvPicPr/>
          <p:nvPr/>
        </p:nvPicPr>
        <p:blipFill>
          <a:blip r:embed="rId2"/>
          <a:stretch/>
        </p:blipFill>
        <p:spPr>
          <a:xfrm>
            <a:off x="685800" y="1325880"/>
            <a:ext cx="10835280" cy="388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TextBox 4"/>
          <p:cNvSpPr/>
          <p:nvPr/>
        </p:nvSpPr>
        <p:spPr>
          <a:xfrm>
            <a:off x="731520" y="516636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8AAA0"/>
                </a:solidFill>
                <a:effectLst/>
                <a:uFillTx/>
                <a:latin typeface="Aptos"/>
              </a:rPr>
              <a:t>Accuracy of Results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5"/>
          <p:cNvSpPr/>
          <p:nvPr/>
        </p:nvSpPr>
        <p:spPr>
          <a:xfrm>
            <a:off x="3383280" y="516636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Functional workflow + visible outputs + validation evidence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6"/>
          <p:cNvSpPr/>
          <p:nvPr/>
        </p:nvSpPr>
        <p:spPr>
          <a:xfrm>
            <a:off x="731520" y="542232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29134"/>
                </a:solidFill>
                <a:effectLst/>
                <a:uFillTx/>
                <a:latin typeface="Aptos"/>
              </a:rPr>
              <a:t>Technical Competence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7"/>
          <p:cNvSpPr/>
          <p:nvPr/>
        </p:nvSpPr>
        <p:spPr>
          <a:xfrm>
            <a:off x="3383280" y="542232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Architecture + technology stack + modular database + role-based flows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8"/>
          <p:cNvSpPr/>
          <p:nvPr/>
        </p:nvSpPr>
        <p:spPr>
          <a:xfrm>
            <a:off x="731520" y="567828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CB57D"/>
                </a:solidFill>
                <a:effectLst/>
                <a:uFillTx/>
                <a:latin typeface="Aptos"/>
              </a:rPr>
              <a:t>Innovative &amp; Sustainable Features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9"/>
          <p:cNvSpPr/>
          <p:nvPr/>
        </p:nvSpPr>
        <p:spPr>
          <a:xfrm>
            <a:off x="3383280" y="567828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AI allocation + ETA + exceptions + QR + carbon indicator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10"/>
          <p:cNvSpPr/>
          <p:nvPr/>
        </p:nvSpPr>
        <p:spPr>
          <a:xfrm>
            <a:off x="731520" y="593460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EEBF4C"/>
                </a:solidFill>
                <a:effectLst/>
                <a:uFillTx/>
                <a:latin typeface="Aptos"/>
              </a:rPr>
              <a:t>Utility to Society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11"/>
          <p:cNvSpPr/>
          <p:nvPr/>
        </p:nvSpPr>
        <p:spPr>
          <a:xfrm>
            <a:off x="3383280" y="593460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Customer visibility + operational coordination + accessible service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12"/>
          <p:cNvSpPr/>
          <p:nvPr/>
        </p:nvSpPr>
        <p:spPr>
          <a:xfrm>
            <a:off x="731520" y="619056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DC5B5B"/>
                </a:solidFill>
                <a:effectLst/>
                <a:uFillTx/>
                <a:latin typeface="Aptos"/>
              </a:rPr>
              <a:t>Presentation Skills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13"/>
          <p:cNvSpPr/>
          <p:nvPr/>
        </p:nvSpPr>
        <p:spPr>
          <a:xfrm>
            <a:off x="3383280" y="619056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Structured story + live demo + diagrams + clear outcomes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14"/>
          <p:cNvSpPr/>
          <p:nvPr/>
        </p:nvSpPr>
        <p:spPr>
          <a:xfrm>
            <a:off x="594360" y="6510600"/>
            <a:ext cx="8686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Review 4  •  Smart Logistics &amp; Courier Tracking System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15"/>
          <p:cNvSpPr/>
          <p:nvPr/>
        </p:nvSpPr>
        <p:spPr>
          <a:xfrm>
            <a:off x="11155680" y="649224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Box 1"/>
          <p:cNvSpPr/>
          <p:nvPr/>
        </p:nvSpPr>
        <p:spPr>
          <a:xfrm>
            <a:off x="594360" y="38412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AFCFF"/>
                </a:solidFill>
                <a:effectLst/>
                <a:uFillTx/>
                <a:latin typeface="Aptos"/>
              </a:rPr>
              <a:t>11. Final Live Demonstration Sequence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2"/>
          <p:cNvSpPr/>
          <p:nvPr/>
        </p:nvSpPr>
        <p:spPr>
          <a:xfrm>
            <a:off x="621720" y="932760"/>
            <a:ext cx="107895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End the review with a complete, connected story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9" name="Picture 3" descr="demo.png"/>
          <p:cNvPicPr/>
          <p:nvPr/>
        </p:nvPicPr>
        <p:blipFill>
          <a:blip r:embed="rId2"/>
          <a:stretch/>
        </p:blipFill>
        <p:spPr>
          <a:xfrm>
            <a:off x="640080" y="1280160"/>
            <a:ext cx="10881000" cy="452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0" name="TextBox 4"/>
          <p:cNvSpPr/>
          <p:nvPr/>
        </p:nvSpPr>
        <p:spPr>
          <a:xfrm>
            <a:off x="731520" y="594360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8AAA0"/>
                </a:solidFill>
                <a:effectLst/>
                <a:uFillTx/>
                <a:latin typeface="Aptos"/>
              </a:rPr>
              <a:t>Key closing message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5"/>
          <p:cNvSpPr/>
          <p:nvPr/>
        </p:nvSpPr>
        <p:spPr>
          <a:xfrm>
            <a:off x="2560320" y="5870520"/>
            <a:ext cx="87778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8EEF5"/>
                </a:solidFill>
                <a:effectLst/>
                <a:uFillTx/>
                <a:latin typeface="Aptos"/>
              </a:rPr>
              <a:t>A modular logistics platform that combines traceable workflows, technical implementation, intelligent decision support and sustainability-oriented extensions.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6"/>
          <p:cNvSpPr/>
          <p:nvPr/>
        </p:nvSpPr>
        <p:spPr>
          <a:xfrm>
            <a:off x="594360" y="6510600"/>
            <a:ext cx="8686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Review 4  •  Smart Logistics &amp; Courier Tracking System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7"/>
          <p:cNvSpPr/>
          <p:nvPr/>
        </p:nvSpPr>
        <p:spPr>
          <a:xfrm>
            <a:off x="11155680" y="649224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7B7CA"/>
                </a:solidFill>
                <a:effectLst/>
                <a:uFillTx/>
                <a:latin typeface="Aptos"/>
              </a:rPr>
              <a:t>12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933</Words>
  <Application>Microsoft Office PowerPoint</Application>
  <PresentationFormat>Widescreen</PresentationFormat>
  <Paragraphs>156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Calibri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ennu varshitha</dc:creator>
  <cp:lastModifiedBy>e varshitha reddy</cp:lastModifiedBy>
  <cp:revision>1</cp:revision>
  <dcterms:modified xsi:type="dcterms:W3CDTF">2026-10-12T04:56:16Z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