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7049" cy="1954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lang="en-IN" dirty="0"/>
              <a:t>AI –ENABLE LOGISTICS OPTIMIZATION AND COURIER </a:t>
            </a:r>
            <a:br>
              <a:rPr lang="en-IN" dirty="0"/>
            </a:br>
            <a:r>
              <a:rPr lang="en-IN" dirty="0"/>
              <a:t>TRACKING SYSTEM</a:t>
            </a:r>
            <a:br>
              <a:rPr lang="en-IN" dirty="0"/>
            </a:br>
            <a:endParaRPr lang="en-IN" dirty="0"/>
          </a:p>
          <a:p>
            <a:pPr>
              <a:defRPr sz="3500" b="1">
                <a:solidFill>
                  <a:srgbClr val="FFFFFF"/>
                </a:solidFill>
              </a:defRPr>
            </a:pPr>
            <a:r>
              <a:rPr sz="1600" dirty="0"/>
              <a:t>Implementation aligned to the five evaluation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931920"/>
            <a:ext cx="1234440" cy="347472"/>
          </a:xfrm>
          <a:prstGeom prst="round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950207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NOVELTY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04872" y="3931920"/>
            <a:ext cx="1417320" cy="347472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04872" y="3950207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ADAPTABILITY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32504" y="3931920"/>
            <a:ext cx="1417320" cy="347472"/>
          </a:xfrm>
          <a:prstGeom prst="roundRect">
            <a:avLst/>
          </a:prstGeom>
          <a:solidFill>
            <a:srgbClr val="2A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32504" y="3950207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0136" y="3931920"/>
            <a:ext cx="1508760" cy="347472"/>
          </a:xfrm>
          <a:prstGeom prst="roundRect">
            <a:avLst/>
          </a:prstGeom>
          <a:solidFill>
            <a:srgbClr val="EB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0136" y="3950207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DISSEMINATION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8" y="3931920"/>
            <a:ext cx="1417320" cy="347472"/>
          </a:xfrm>
          <a:prstGeom prst="roundRect">
            <a:avLst/>
          </a:prstGeom>
          <a:solidFill>
            <a:srgbClr val="C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87768" y="3950207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83500B6-3F03-B114-3642-48FA5709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44" y="944664"/>
            <a:ext cx="8893311" cy="49686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6"/>
                </a:solidFill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87789"/>
                </a:solidFill>
              </a:defRPr>
            </a:pPr>
            <a:r>
              <a:t>From courier booking to delivery confirmation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301752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Manual logistics operations can cause delays, weak visibility and coordination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7276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Proposed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39112"/>
            <a:ext cx="301752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Centralized platform for customers, packages, warehouses, drivers, vehicles and shipments.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1828800"/>
          </a:xfrm>
          <a:prstGeom prst="rect">
            <a:avLst/>
          </a:prstGeom>
          <a:solidFill>
            <a:srgbClr val="2A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57276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39112"/>
            <a:ext cx="301752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HTML • CSS • JavaScript • PHP • MySQL • XAMPP • VS Code • Git/GitHub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BOOK → REGISTER → PICK UP → PROCESS → TRANSIT → DELIVER → CONFIRM</a:t>
            </a:r>
          </a:p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Dashboard shows shipment counts, progress bars and operational indicators.</a:t>
            </a:r>
          </a:p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AI decision-support demonstrates allocation, ETA, exception detection and sustainability.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6"/>
                </a:solidFill>
              </a:defRPr>
            </a:pPr>
            <a:r>
              <a:t>2. Novelty of Developed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87789"/>
                </a:solidFill>
              </a:defRPr>
            </a:pPr>
            <a:r>
              <a:t>Implementation features that extend basic courier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73152" cy="1783080"/>
          </a:xfrm>
          <a:prstGeom prst="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2704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AI-assisted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301752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Matches priority, load, location and availability.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178308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2704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Predictive ETA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93392"/>
            <a:ext cx="301752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Prototype delivery-time estimate for decision support.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71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1371600"/>
            <a:ext cx="73152" cy="1783080"/>
          </a:xfrm>
          <a:prstGeom prst="rect">
            <a:avLst/>
          </a:prstGeom>
          <a:solidFill>
            <a:srgbClr val="2A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52704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Exception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93392"/>
            <a:ext cx="301752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Flags delayed or anomalous operational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20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520440"/>
            <a:ext cx="73152" cy="1783080"/>
          </a:xfrm>
          <a:prstGeom prst="rect">
            <a:avLst/>
          </a:prstGeom>
          <a:solidFill>
            <a:srgbClr val="EB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67588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Location-aware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301752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Origin, destination and event-location visibility.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520440"/>
            <a:ext cx="73152" cy="1783080"/>
          </a:xfrm>
          <a:prstGeom prst="rect">
            <a:avLst/>
          </a:prstGeom>
          <a:solidFill>
            <a:srgbClr val="C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67588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QR-ready 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142232"/>
            <a:ext cx="301752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Tracking payload foundation for QR-based lookup.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520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80" y="3520440"/>
            <a:ext cx="73152" cy="1783080"/>
          </a:xfrm>
          <a:prstGeom prst="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367588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Sustainability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42232"/>
            <a:ext cx="301752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Carbon-related indicator for greener decisions.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6"/>
                </a:solidFill>
              </a:defRPr>
            </a:pPr>
            <a:r>
              <a:t>3. Adaptability of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87789"/>
                </a:solidFill>
              </a:defRPr>
            </a:pPr>
            <a:r>
              <a:t>Modular design supports future logistics extensions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965960" cy="914400"/>
          </a:xfrm>
          <a:prstGeom prst="round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9339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79" y="1737360"/>
            <a:ext cx="1965960" cy="914400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79" y="199339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737360"/>
            <a:ext cx="1965960" cy="914400"/>
          </a:xfrm>
          <a:prstGeom prst="roundRect">
            <a:avLst/>
          </a:prstGeom>
          <a:solidFill>
            <a:srgbClr val="2A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199339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Warehouse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19" y="1737360"/>
            <a:ext cx="1965960" cy="914400"/>
          </a:xfrm>
          <a:prstGeom prst="roundRect">
            <a:avLst/>
          </a:prstGeom>
          <a:solidFill>
            <a:srgbClr val="EB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19" y="199339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737360"/>
            <a:ext cx="1965960" cy="914400"/>
          </a:xfrm>
          <a:prstGeom prst="roundRect">
            <a:avLst/>
          </a:prstGeom>
          <a:solidFill>
            <a:srgbClr val="C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21240" y="199339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Modular database: users, shipments, events, warehouses, drivers, vehicles, returns and feedback.</a:t>
            </a:r>
          </a:p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Role-based navigation separates customer and administrator workflows.</a:t>
            </a:r>
          </a:p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Future scope: smart routing, advanced ETA prediction, capacity alerts, reverse logistics, feedback and carbon tracking.</a:t>
            </a:r>
          </a:p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Local XAMPP deployment can later be adapted to hosted PHP/MySQL infrastructure.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6"/>
                </a:solidFill>
              </a:defRPr>
            </a:pPr>
            <a:r>
              <a:t>4. Methodology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87789"/>
                </a:solidFill>
              </a:defRPr>
            </a:pPr>
            <a:r>
              <a:t>Development and validation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234440"/>
          </a:xfrm>
          <a:prstGeom prst="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1. Requirement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39112"/>
            <a:ext cx="2834639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Defined inputs, implemented module, tested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1417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79" y="1417320"/>
            <a:ext cx="73152" cy="123444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157276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2. Database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039112"/>
            <a:ext cx="2834639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Defined inputs, implemented module, tested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1417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19" y="1417320"/>
            <a:ext cx="73152" cy="1234440"/>
          </a:xfrm>
          <a:prstGeom prst="rect">
            <a:avLst/>
          </a:prstGeom>
          <a:solidFill>
            <a:srgbClr val="2A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19" y="157276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3. Frontend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039112"/>
            <a:ext cx="2834639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Defined inputs, implemented module, tested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8328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73152" cy="1234440"/>
          </a:xfrm>
          <a:prstGeom prst="rect">
            <a:avLst/>
          </a:prstGeom>
          <a:solidFill>
            <a:srgbClr val="EB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53872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4. PHP/API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05072"/>
            <a:ext cx="2834639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Defined inputs, implemented module, tested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338328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26279" y="3383280"/>
            <a:ext cx="73152" cy="1234440"/>
          </a:xfrm>
          <a:prstGeom prst="rect">
            <a:avLst/>
          </a:prstGeom>
          <a:solidFill>
            <a:srgbClr val="C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79" y="353872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5. Testing &amp;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005072"/>
            <a:ext cx="2834639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Defined inputs, implemented module, tested workflow.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19" y="338328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19" y="3383280"/>
            <a:ext cx="73152" cy="1234440"/>
          </a:xfrm>
          <a:prstGeom prst="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19" y="353872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6. Demonstration &amp;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4005072"/>
            <a:ext cx="2834639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Defined inputs, implemented module, tested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6"/>
                </a:solidFill>
              </a:defRPr>
            </a:pPr>
            <a:r>
              <a:t>5. System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87789"/>
                </a:solidFill>
              </a:defRPr>
            </a:pPr>
            <a:r>
              <a:t>Functional components in the upgraded website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298448"/>
          </a:xfrm>
          <a:prstGeom prst="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Login &amp;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Admin / Customer entry and role-aware navigation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73152" cy="1298448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813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Courier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476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Shipment creation and tracking ID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926080"/>
            <a:ext cx="73152" cy="1298448"/>
          </a:xfrm>
          <a:prstGeom prst="rect">
            <a:avLst/>
          </a:prstGeom>
          <a:solidFill>
            <a:srgbClr val="2A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0815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478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Status timeline and shipment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9260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2926080"/>
            <a:ext cx="73152" cy="1298448"/>
          </a:xfrm>
          <a:prstGeom prst="rect">
            <a:avLst/>
          </a:prstGeom>
          <a:solidFill>
            <a:srgbClr val="EB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0815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478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Warehouse, inventory, driver/vehicle allocation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262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526280"/>
            <a:ext cx="73152" cy="1298448"/>
          </a:xfrm>
          <a:prstGeom prst="rect">
            <a:avLst/>
          </a:prstGeom>
          <a:solidFill>
            <a:srgbClr val="C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817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Admin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480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Monitoring, reports, analytics and 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5262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4526280"/>
            <a:ext cx="73152" cy="1298448"/>
          </a:xfrm>
          <a:prstGeom prst="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46817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Feedback &amp; Returns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1480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Ratings, feedback and reverse logistics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6"/>
                </a:solidFill>
              </a:defRPr>
            </a:pPr>
            <a:r>
              <a:t>6. Login → Dashboard → Logout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87789"/>
                </a:solidFill>
              </a:defRPr>
            </a:pPr>
            <a:r>
              <a:t>Role-based user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331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68BE"/>
                </a:solidFill>
              </a:defRPr>
            </a:pPr>
            <a:r>
              <a:t>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42D38"/>
                </a:solidFill>
              </a:defRPr>
            </a:pPr>
            <a:r>
              <a:t>Choose Admin or 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331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AAABE"/>
                </a:solidFill>
              </a:defRPr>
            </a:pPr>
            <a: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697480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42D38"/>
                </a:solidFill>
              </a:defRPr>
            </a:pPr>
            <a:r>
              <a:t>Book • Track •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2331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9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A9166"/>
                </a:solidFill>
              </a:defRPr>
            </a:pPr>
            <a: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42D38"/>
                </a:solidFill>
              </a:defRPr>
            </a:pPr>
            <a:r>
              <a:t>Monitor • Allocate •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828800"/>
            <a:ext cx="2331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210312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64747"/>
                </a:solidFill>
              </a:defRPr>
            </a:pPr>
            <a:r>
              <a:t>LOGOUT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697480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42D38"/>
                </a:solidFill>
              </a:defRPr>
            </a:pPr>
            <a:r>
              <a:t>End session → Login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51960"/>
            <a:ext cx="10424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251960"/>
            <a:ext cx="73152" cy="10972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407408"/>
            <a:ext cx="10012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Navigation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73752"/>
            <a:ext cx="10012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Only functions relevant to the active role are shown; logout ends the session and returns to login.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6"/>
                </a:solidFill>
              </a:defRPr>
            </a:pPr>
            <a:r>
              <a:t>7. Location Tracing &amp; Shipment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87789"/>
                </a:solidFill>
              </a:defRPr>
            </a:pPr>
            <a:r>
              <a:t>Location-aware features for customers and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Shipment records store origin and destination for traceability.</a:t>
            </a:r>
          </a:p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Tracking events store status, location and operational messages.</a:t>
            </a:r>
          </a:p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Upgrade path: browser/device geolocation or mapping API for live driver position and route visualization.</a:t>
            </a:r>
          </a:p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Location information can support ETA prediction, exception detection and route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73152" cy="960120"/>
          </a:xfrm>
          <a:prstGeom prst="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664207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ORIGIN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30552"/>
            <a:ext cx="16002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Pickup 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33172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0" y="2331720"/>
            <a:ext cx="73152" cy="960120"/>
          </a:xfrm>
          <a:prstGeom prst="rect">
            <a:avLst/>
          </a:prstGeom>
          <a:solidFill>
            <a:srgbClr val="2A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6840" y="2487168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WAREHOUSE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953512"/>
            <a:ext cx="16002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5468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3154680"/>
            <a:ext cx="73152" cy="960120"/>
          </a:xfrm>
          <a:prstGeom prst="rect">
            <a:avLst/>
          </a:prstGeom>
          <a:solidFill>
            <a:srgbClr val="EB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3310128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TRANSIT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76472"/>
            <a:ext cx="16002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In motion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3977639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78240" y="3977639"/>
            <a:ext cx="73152" cy="960120"/>
          </a:xfrm>
          <a:prstGeom prst="rect">
            <a:avLst/>
          </a:prstGeom>
          <a:solidFill>
            <a:srgbClr val="C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4133087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DESTINATION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4599431"/>
            <a:ext cx="16002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6"/>
                </a:solidFill>
              </a:defRPr>
            </a:pPr>
            <a:r>
              <a:t>8. User Experience &amp; Animation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87789"/>
                </a:solidFill>
              </a:defRPr>
            </a:pPr>
            <a:r>
              <a:t>Modern presentation layer for the upgraded website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298448"/>
          </a:xfrm>
          <a:prstGeom prst="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Animated dashboard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Counters and progress indicators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73152" cy="1298448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813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Smooth section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476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Login, Dashboard, Booking, Tracking and Admin 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926080"/>
            <a:ext cx="73152" cy="1298448"/>
          </a:xfrm>
          <a:prstGeom prst="rect">
            <a:avLst/>
          </a:prstGeom>
          <a:solidFill>
            <a:srgbClr val="2A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0815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Status timeline animation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478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Visual shipment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9260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2926080"/>
            <a:ext cx="73152" cy="1298448"/>
          </a:xfrm>
          <a:prstGeom prst="rect">
            <a:avLst/>
          </a:prstGeom>
          <a:solidFill>
            <a:srgbClr val="EB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0815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Alert micro-interactions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478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Capacity, delay and exception emphasis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262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526280"/>
            <a:ext cx="73152" cy="1298448"/>
          </a:xfrm>
          <a:prstGeom prst="rect">
            <a:avLst/>
          </a:prstGeom>
          <a:solidFill>
            <a:srgbClr val="C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817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Responsive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480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Desktop and smaller-screen layouts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5262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4526280"/>
            <a:ext cx="73152" cy="1298448"/>
          </a:xfrm>
          <a:prstGeom prst="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46817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Accessible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1480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Readable labels, contrast and keyboard-friendly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6"/>
                </a:solidFill>
              </a:defRPr>
            </a:pPr>
            <a:r>
              <a:t>9. Dissemination &amp;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87789"/>
                </a:solidFill>
              </a:defRPr>
            </a:pPr>
            <a:r>
              <a:t>How the project can be demonstrated and shared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Live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3063239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Run on XAMPP and demonstrate login, booking, tracking, operations and admin 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828800"/>
          </a:xfrm>
          <a:prstGeom prst="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47672"/>
            <a:ext cx="3063239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README, database schema, workflow, module descriptions and setup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2A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48132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6"/>
                </a:solidFill>
              </a:defRPr>
            </a:pPr>
            <a:r>
              <a:t>Academic Dissemination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47672"/>
            <a:ext cx="3063239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42D38"/>
                </a:solidFill>
              </a:defRPr>
            </a:pPr>
            <a:r>
              <a:t>Screenshots, architecture/workflow diagrams, test results and project review material.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Accessibility: simple navigation, consistent labels, responsive layout and readable status indicators.</a:t>
            </a:r>
          </a:p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Transparency: explain AI decision-support rules rather than presenting them as unexplained predictions.</a:t>
            </a:r>
          </a:p>
          <a:p>
            <a:pPr>
              <a:spcAft>
                <a:spcPts val="700"/>
              </a:spcAft>
              <a:defRPr sz="1600">
                <a:solidFill>
                  <a:srgbClr val="242D38"/>
                </a:solidFill>
              </a:defRPr>
            </a:pPr>
            <a:r>
              <a:t>• Future: GitHub repository, hosted demo, user manual and walkthrough video.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6"/>
                </a:solidFill>
              </a:defRPr>
            </a:pPr>
            <a:r>
              <a:t>10. Evaluation Component → Implementation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87789"/>
                </a:solidFill>
              </a:defRPr>
            </a:pPr>
            <a:r>
              <a:t>Direct evidence for the five 10-mark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6"/>
                </a:solidFill>
              </a:defRPr>
            </a:pPr>
            <a:r>
              <a:t>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435607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42D38"/>
                </a:solidFill>
              </a:defRPr>
            </a:pPr>
            <a:r>
              <a:t>AI allocation, ETA support, exception detection, QR-ready tracking, sustainability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0881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6"/>
                </a:solidFill>
              </a:defRPr>
            </a:pPr>
            <a:r>
              <a:t>Adaptability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39572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42D38"/>
                </a:solidFill>
              </a:defRPr>
            </a:pPr>
            <a:r>
              <a:t>Modular roles, database entities and extensible future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1088136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355848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6"/>
                </a:solidFill>
              </a:defRPr>
            </a:pPr>
            <a:r>
              <a:t>Methodology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3558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42D38"/>
                </a:solidFill>
              </a:defRPr>
            </a:pPr>
            <a:r>
              <a:t>Requirement → DB → UI → API → testing → demonstration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10881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315968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6"/>
                </a:solidFill>
              </a:defRPr>
            </a:pPr>
            <a:r>
              <a:t>Dissemination &amp; Accessibility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31596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42D38"/>
                </a:solidFill>
              </a:defRPr>
            </a:pPr>
            <a:r>
              <a:t>README, documentation, responsive UI and clear navigation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66359"/>
            <a:ext cx="1088136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276088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6"/>
                </a:solidFill>
              </a:defRPr>
            </a:pPr>
            <a:r>
              <a:t>Presentation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527608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42D38"/>
                </a:solidFill>
              </a:defRPr>
            </a:pPr>
            <a:r>
              <a:t>Structured story, workflow, live demo and measurable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Recommended Live Demonstration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4ECF5"/>
                </a:solidFill>
              </a:defRPr>
            </a:pPr>
            <a:r>
              <a:t>• Open Login → choose Customer → dashboard</a:t>
            </a:r>
          </a:p>
          <a:p>
            <a:pPr>
              <a:spcAft>
                <a:spcPts val="700"/>
              </a:spcAft>
              <a:defRPr sz="1700">
                <a:solidFill>
                  <a:srgbClr val="E4ECF5"/>
                </a:solidFill>
              </a:defRPr>
            </a:pPr>
            <a:r>
              <a:t>• Create courier booking → generate tracking ID</a:t>
            </a:r>
          </a:p>
          <a:p>
            <a:pPr>
              <a:spcAft>
                <a:spcPts val="700"/>
              </a:spcAft>
              <a:defRPr sz="1700">
                <a:solidFill>
                  <a:srgbClr val="E4ECF5"/>
                </a:solidFill>
              </a:defRPr>
            </a:pPr>
            <a:r>
              <a:t>• Track shipment → show status/location timeline</a:t>
            </a:r>
          </a:p>
          <a:p>
            <a:pPr>
              <a:spcAft>
                <a:spcPts val="700"/>
              </a:spcAft>
              <a:defRPr sz="1700">
                <a:solidFill>
                  <a:srgbClr val="E4ECF5"/>
                </a:solidFill>
              </a:defRPr>
            </a:pPr>
            <a:r>
              <a:t>• Logout → Login as Admin</a:t>
            </a:r>
          </a:p>
          <a:p>
            <a:pPr>
              <a:spcAft>
                <a:spcPts val="700"/>
              </a:spcAft>
              <a:defRPr sz="1700">
                <a:solidFill>
                  <a:srgbClr val="E4ECF5"/>
                </a:solidFill>
              </a:defRPr>
            </a:pPr>
            <a:r>
              <a:t>• Open Admin Dashboard → show bars, exceptions and warehouse capacity</a:t>
            </a:r>
          </a:p>
          <a:p>
            <a:pPr>
              <a:spcAft>
                <a:spcPts val="700"/>
              </a:spcAft>
              <a:defRPr sz="1700">
                <a:solidFill>
                  <a:srgbClr val="E4ECF5"/>
                </a:solidFill>
              </a:defRPr>
            </a:pPr>
            <a:r>
              <a:t>• Run AI allocation / return / feedback / QR-ready tracking</a:t>
            </a:r>
          </a:p>
          <a:p>
            <a:pPr>
              <a:spcAft>
                <a:spcPts val="700"/>
              </a:spcAft>
              <a:defRPr sz="1700">
                <a:solidFill>
                  <a:srgbClr val="E4ECF5"/>
                </a:solidFill>
              </a:defRPr>
            </a:pPr>
            <a:r>
              <a:t>• Explain future upgrades: live map, ML ETA, smart routing and capacity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715000"/>
            <a:ext cx="1051560" cy="347472"/>
          </a:xfrm>
          <a:prstGeom prst="roundRect">
            <a:avLst/>
          </a:prstGeom>
          <a:solidFill>
            <a:srgbClr val="1E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73328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5715000"/>
            <a:ext cx="1143000" cy="347472"/>
          </a:xfrm>
          <a:prstGeom prst="roundRect">
            <a:avLst/>
          </a:prstGeom>
          <a:solidFill>
            <a:srgbClr val="2A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40280" y="5733288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5715000"/>
            <a:ext cx="1325880" cy="347472"/>
          </a:xfrm>
          <a:prstGeom prst="roundRect">
            <a:avLst/>
          </a:prstGeom>
          <a:solidFill>
            <a:srgbClr val="2A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57332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5715000"/>
            <a:ext cx="1325880" cy="347472"/>
          </a:xfrm>
          <a:prstGeom prst="roundRect">
            <a:avLst/>
          </a:prstGeom>
          <a:solidFill>
            <a:srgbClr val="EB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57332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ANALYZE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5715000"/>
            <a:ext cx="1234440" cy="347472"/>
          </a:xfrm>
          <a:prstGeom prst="roundRect">
            <a:avLst/>
          </a:prstGeom>
          <a:solidFill>
            <a:srgbClr val="C6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5733288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LOGOUT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789"/>
                </a:solidFill>
              </a:defRPr>
            </a:pPr>
            <a:r>
              <a:t>Smart Logistics &amp; Courier Tracking System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977</Words>
  <Application>Microsoft Office PowerPoint</Application>
  <PresentationFormat>Widescreen</PresentationFormat>
  <Paragraphs>159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ennu varshitha</dc:creator>
  <cp:keywords/>
  <dc:description>generated using python-pptx</dc:description>
  <cp:lastModifiedBy>e varshitha reddy</cp:lastModifiedBy>
  <cp:revision>2</cp:revision>
  <dcterms:created xsi:type="dcterms:W3CDTF">2013-01-27T09:14:16Z</dcterms:created>
  <dcterms:modified xsi:type="dcterms:W3CDTF">2026-10-12T04:52:38Z</dcterms:modified>
  <cp:category/>
</cp:coreProperties>
</file>